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5a4744903_2_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f5a4744903_2_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WEEKLY SUMMARY — one per week.</a:t>
            </a:r>
            <a:b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use: each week, duplicate this slide plus your results slides and move the copies to the FRONT of the deck. Older weeks stay below the 'Previous Weekly Updates' divider.</a:t>
            </a:r>
            <a:b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to three goals. Set each status chip to Completed / Partly completed / Not completed. Fill the feedback box every week — if there is no question, say what decision you are assuming.</a:t>
            </a:r>
            <a:endParaRPr/>
          </a:p>
        </p:txBody>
      </p:sp>
      <p:sp>
        <p:nvSpPr>
          <p:cNvPr id="55" name="Google Shape;55;g3f5a4744903_2_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5a474490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5a474490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5a474490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5a474490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5a474490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5a474490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5a474490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5a474490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5a474490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5a474490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5a474490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5a474490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5a474490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5a474490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377190" y="233172"/>
            <a:ext cx="65151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Weekly Research Update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390906" y="630936"/>
            <a:ext cx="65151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Rushik Sriramoju</a:t>
            </a:r>
            <a:r>
              <a:rPr b="0" i="0" lang="en" sz="10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   |   </a:t>
            </a:r>
            <a:r>
              <a:rPr lang="en" sz="10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July 24th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377190" y="994410"/>
            <a:ext cx="4149090" cy="13716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12700">
            <a:solidFill>
              <a:srgbClr val="DFE3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902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541782" y="1120171"/>
            <a:ext cx="361416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163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F1637"/>
                </a:solidFill>
                <a:latin typeface="Arial"/>
                <a:ea typeface="Arial"/>
                <a:cs typeface="Arial"/>
                <a:sym typeface="Arial"/>
              </a:rPr>
              <a:t>1 · LAST WEEK'S GOALS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41782" y="1436751"/>
            <a:ext cx="2667762" cy="744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A1A9"/>
              </a:buClr>
              <a:buSzPts val="800"/>
              <a:buFont typeface="Calibri"/>
              <a:buNone/>
            </a:pPr>
            <a:r>
              <a:rPr i="1" lang="en" sz="800">
                <a:solidFill>
                  <a:srgbClr val="9AA1A9"/>
                </a:solidFill>
                <a:latin typeface="Calibri"/>
                <a:ea typeface="Calibri"/>
                <a:cs typeface="Calibri"/>
                <a:sym typeface="Calibri"/>
              </a:rPr>
              <a:t>Create a heatmap to compare the values of morphological features between cell lines.</a:t>
            </a:r>
            <a:endParaRPr i="1" sz="800">
              <a:solidFill>
                <a:srgbClr val="9AA1A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A1A9"/>
              </a:buClr>
              <a:buSzPts val="800"/>
              <a:buFont typeface="Calibri"/>
              <a:buNone/>
            </a:pPr>
            <a:r>
              <a:t/>
            </a:r>
            <a:endParaRPr i="1" sz="800">
              <a:solidFill>
                <a:srgbClr val="9AA1A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A1A9"/>
              </a:buClr>
              <a:buSzPts val="800"/>
              <a:buFont typeface="Calibri"/>
              <a:buNone/>
            </a:pPr>
            <a:r>
              <a:rPr i="1" lang="en" sz="800">
                <a:solidFill>
                  <a:srgbClr val="9AA1A9"/>
                </a:solidFill>
                <a:latin typeface="Calibri"/>
                <a:ea typeface="Calibri"/>
                <a:cs typeface="Calibri"/>
                <a:sym typeface="Calibri"/>
              </a:rPr>
              <a:t>Create a heatmap to compare the values of morphological features between cell types.</a:t>
            </a:r>
            <a:endParaRPr sz="1100"/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1" sz="800" u="none" cap="none" strike="noStrike">
              <a:solidFill>
                <a:srgbClr val="9AA1A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1" sz="800" u="none" cap="none" strike="noStrike">
              <a:solidFill>
                <a:srgbClr val="9AA1A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1" sz="800" u="none" cap="none" strike="noStrike">
              <a:solidFill>
                <a:srgbClr val="9AA1A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377190" y="2468880"/>
            <a:ext cx="4149090" cy="1440180"/>
          </a:xfrm>
          <a:prstGeom prst="roundRect">
            <a:avLst>
              <a:gd fmla="val 1905" name="adj"/>
            </a:avLst>
          </a:prstGeom>
          <a:solidFill>
            <a:srgbClr val="FFFFFF"/>
          </a:solidFill>
          <a:ln cap="flat" cmpd="sng" w="12700">
            <a:solidFill>
              <a:srgbClr val="DFE3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902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541782" y="2585466"/>
            <a:ext cx="361416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163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F1637"/>
                </a:solidFill>
                <a:latin typeface="Arial"/>
                <a:ea typeface="Arial"/>
                <a:cs typeface="Arial"/>
                <a:sym typeface="Arial"/>
              </a:rPr>
              <a:t>2 · WHAT I ACHIEVED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541782" y="2852928"/>
            <a:ext cx="3819906" cy="925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A1A9"/>
              </a:buClr>
              <a:buSzPts val="900"/>
              <a:buFont typeface="Calibri"/>
              <a:buNone/>
            </a:pPr>
            <a:r>
              <a:rPr i="1" lang="en" sz="900">
                <a:solidFill>
                  <a:srgbClr val="9AA1A9"/>
                </a:solidFill>
                <a:latin typeface="Calibri"/>
                <a:ea typeface="Calibri"/>
                <a:cs typeface="Calibri"/>
                <a:sym typeface="Calibri"/>
              </a:rPr>
              <a:t>The particular morphological features that are significantly different among the cell lines and cell types have been visualised using the heatmap.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4629150" y="994410"/>
            <a:ext cx="4135374" cy="1783080"/>
          </a:xfrm>
          <a:prstGeom prst="roundRect">
            <a:avLst>
              <a:gd fmla="val 1538" name="adj"/>
            </a:avLst>
          </a:prstGeom>
          <a:solidFill>
            <a:srgbClr val="FFFFFF"/>
          </a:solidFill>
          <a:ln cap="flat" cmpd="sng" w="12700">
            <a:solidFill>
              <a:srgbClr val="DFE3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902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4697730" y="1059561"/>
            <a:ext cx="360045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163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F1637"/>
                </a:solidFill>
                <a:latin typeface="Arial"/>
                <a:ea typeface="Arial"/>
                <a:cs typeface="Arial"/>
                <a:sym typeface="Arial"/>
              </a:rPr>
              <a:t>3 · WHAT WORKED / DID NOT WORK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4629150" y="2880360"/>
            <a:ext cx="4135374" cy="10287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DFE3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902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4697730" y="2986752"/>
            <a:ext cx="360045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163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F1637"/>
                </a:solidFill>
                <a:latin typeface="Arial"/>
                <a:ea typeface="Arial"/>
                <a:cs typeface="Arial"/>
                <a:sym typeface="Arial"/>
              </a:rPr>
              <a:t>4 · PLAN FOR NEXT WEEK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4754262" y="3236975"/>
            <a:ext cx="3627882" cy="497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A1A9"/>
              </a:buClr>
              <a:buSzPts val="800"/>
              <a:buFont typeface="Calibri"/>
              <a:buNone/>
            </a:pPr>
            <a:r>
              <a:rPr i="1" lang="en" sz="800">
                <a:solidFill>
                  <a:srgbClr val="9AA1A9"/>
                </a:solidFill>
                <a:latin typeface="Calibri"/>
                <a:ea typeface="Calibri"/>
                <a:cs typeface="Calibri"/>
                <a:sym typeface="Calibri"/>
              </a:rPr>
              <a:t>Compare between Control vs Each variant and compare within the cell lines within each cell type.</a:t>
            </a:r>
            <a:endParaRPr sz="1100"/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1" sz="800" u="none" cap="none" strike="noStrike">
              <a:solidFill>
                <a:srgbClr val="9AA1A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AA1A9"/>
                </a:solidFill>
                <a:latin typeface="Calibri"/>
                <a:ea typeface="Calibri"/>
                <a:cs typeface="Calibri"/>
                <a:sym typeface="Calibri"/>
              </a:rPr>
              <a:t>Find out more about the biological meaning of this.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4793742" y="3442716"/>
            <a:ext cx="17145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4786895" y="1448815"/>
            <a:ext cx="38199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A1A9"/>
              </a:buClr>
              <a:buSzPts val="900"/>
              <a:buFont typeface="Calibri"/>
              <a:buNone/>
            </a:pPr>
            <a:r>
              <a:rPr i="1" lang="en" sz="900">
                <a:solidFill>
                  <a:srgbClr val="9AA1A9"/>
                </a:solidFill>
                <a:latin typeface="Calibri"/>
                <a:ea typeface="Calibri"/>
                <a:cs typeface="Calibri"/>
                <a:sym typeface="Calibri"/>
              </a:rPr>
              <a:t>Making heatmaps with column clustering worked quite well. However, some formatting needs to be improved.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1945500" y="2260050"/>
            <a:ext cx="5253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Lab 2 Heatmaps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377190" y="233172"/>
            <a:ext cx="6515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300"/>
              <a:buFont typeface="Arial"/>
              <a:buNone/>
            </a:pPr>
            <a:r>
              <a:rPr b="1" lang="en" sz="2300">
                <a:solidFill>
                  <a:srgbClr val="1A1A1A"/>
                </a:solidFill>
              </a:rPr>
              <a:t>Results: Comparison between Cell Types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390906" y="630936"/>
            <a:ext cx="6515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Rushik Sriramoju</a:t>
            </a:r>
            <a:r>
              <a:rPr b="0" i="0" lang="en" sz="10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   |   </a:t>
            </a:r>
            <a:r>
              <a:rPr lang="en" sz="10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July 24th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0775" y="836736"/>
            <a:ext cx="5010054" cy="4001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/>
          <p:nvPr/>
        </p:nvSpPr>
        <p:spPr>
          <a:xfrm>
            <a:off x="377190" y="233172"/>
            <a:ext cx="6515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300"/>
              <a:buFont typeface="Arial"/>
              <a:buNone/>
            </a:pPr>
            <a:r>
              <a:rPr b="1" lang="en" sz="2300">
                <a:solidFill>
                  <a:srgbClr val="1A1A1A"/>
                </a:solidFill>
              </a:rPr>
              <a:t>Results: Comparison between </a:t>
            </a:r>
            <a:r>
              <a:rPr b="1" lang="en" sz="2300">
                <a:solidFill>
                  <a:srgbClr val="1A1A1A"/>
                </a:solidFill>
              </a:rPr>
              <a:t>Cell Lines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390906" y="630936"/>
            <a:ext cx="6515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Rushik Sriramoju</a:t>
            </a:r>
            <a:r>
              <a:rPr b="0" i="0" lang="en" sz="10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   |   </a:t>
            </a:r>
            <a:r>
              <a:rPr lang="en" sz="10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July 24th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0750" y="1028411"/>
            <a:ext cx="5010054" cy="4001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1945500" y="2260050"/>
            <a:ext cx="5253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Lab 1 Heatmaps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/>
          <p:nvPr/>
        </p:nvSpPr>
        <p:spPr>
          <a:xfrm>
            <a:off x="377190" y="233172"/>
            <a:ext cx="6515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300"/>
              <a:buFont typeface="Arial"/>
              <a:buNone/>
            </a:pPr>
            <a:r>
              <a:rPr b="1" lang="en" sz="2300">
                <a:solidFill>
                  <a:srgbClr val="1A1A1A"/>
                </a:solidFill>
              </a:rPr>
              <a:t>Results: Comparison between Cell Types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0"/>
          <p:cNvSpPr/>
          <p:nvPr/>
        </p:nvSpPr>
        <p:spPr>
          <a:xfrm>
            <a:off x="390906" y="630936"/>
            <a:ext cx="6515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Rushik Sriramoju</a:t>
            </a:r>
            <a:r>
              <a:rPr b="0" i="0" lang="en" sz="10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   |   </a:t>
            </a:r>
            <a:r>
              <a:rPr lang="en" sz="10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July 24th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6425" y="1026861"/>
            <a:ext cx="5015120" cy="4001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/>
          <p:nvPr/>
        </p:nvSpPr>
        <p:spPr>
          <a:xfrm>
            <a:off x="377190" y="233172"/>
            <a:ext cx="6515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300"/>
              <a:buFont typeface="Arial"/>
              <a:buNone/>
            </a:pPr>
            <a:r>
              <a:rPr b="1" lang="en" sz="2300">
                <a:solidFill>
                  <a:srgbClr val="1A1A1A"/>
                </a:solidFill>
              </a:rPr>
              <a:t>Results: Comparison between Cell Lines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1"/>
          <p:cNvSpPr/>
          <p:nvPr/>
        </p:nvSpPr>
        <p:spPr>
          <a:xfrm>
            <a:off x="390906" y="630936"/>
            <a:ext cx="6515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Rushik Sriramoju</a:t>
            </a:r>
            <a:r>
              <a:rPr b="0" i="0" lang="en" sz="10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   |   </a:t>
            </a:r>
            <a:r>
              <a:rPr lang="en" sz="10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July 24th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888" y="998561"/>
            <a:ext cx="5015120" cy="4001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/>
        </p:nvSpPr>
        <p:spPr>
          <a:xfrm>
            <a:off x="1945500" y="2260050"/>
            <a:ext cx="5253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Lab 1 Heatmaps - Row Clustering True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/>
          <p:nvPr/>
        </p:nvSpPr>
        <p:spPr>
          <a:xfrm>
            <a:off x="377190" y="233172"/>
            <a:ext cx="6515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300"/>
              <a:buFont typeface="Arial"/>
              <a:buNone/>
            </a:pPr>
            <a:r>
              <a:rPr b="1" lang="en" sz="2300">
                <a:solidFill>
                  <a:srgbClr val="1A1A1A"/>
                </a:solidFill>
              </a:rPr>
              <a:t>Results: Comparison between Cell Lines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3"/>
          <p:cNvSpPr/>
          <p:nvPr/>
        </p:nvSpPr>
        <p:spPr>
          <a:xfrm>
            <a:off x="390906" y="630936"/>
            <a:ext cx="6515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Rushik Sriramoju</a:t>
            </a:r>
            <a:r>
              <a:rPr b="0" i="0" lang="en" sz="10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   |   </a:t>
            </a:r>
            <a:r>
              <a:rPr lang="en" sz="1000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July 24th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5675" y="978186"/>
            <a:ext cx="5010054" cy="400196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3"/>
          <p:cNvSpPr txBox="1"/>
          <p:nvPr/>
        </p:nvSpPr>
        <p:spPr>
          <a:xfrm>
            <a:off x="7473300" y="1769250"/>
            <a:ext cx="1171500" cy="12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¾ control lines do actually cluster together.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